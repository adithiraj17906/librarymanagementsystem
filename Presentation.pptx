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Open Sans Bold" charset="1" panose="020B0806030504020204"/>
      <p:regular r:id="rId14"/>
    </p:embeddedFont>
    <p:embeddedFont>
      <p:font typeface="Poppins" charset="1" panose="00000500000000000000"/>
      <p:regular r:id="rId15"/>
    </p:embeddedFont>
    <p:embeddedFont>
      <p:font typeface="Open Sans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4742" y="3389974"/>
            <a:ext cx="16833258" cy="109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2"/>
              </a:lnSpc>
            </a:pPr>
            <a:r>
              <a:rPr lang="en-US" b="true" sz="723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LIBRARY MANAGEMENT SYSTEM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34681" y="2410764"/>
            <a:ext cx="9418638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JAVA FULL STACK TRAINING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21759" y="6709960"/>
            <a:ext cx="8537278" cy="218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9"/>
              </a:lnSpc>
            </a:pPr>
            <a:r>
              <a:rPr lang="en-US" b="true" sz="38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A. SAI VARDHAN   -   2411CS060093</a:t>
            </a:r>
          </a:p>
          <a:p>
            <a:pPr algn="just">
              <a:lnSpc>
                <a:spcPts val="4209"/>
              </a:lnSpc>
            </a:pPr>
            <a:r>
              <a:rPr lang="en-US" b="true" sz="38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K. SUSHVIKA          -   2411CS060107</a:t>
            </a:r>
          </a:p>
          <a:p>
            <a:pPr algn="just">
              <a:lnSpc>
                <a:spcPts val="4209"/>
              </a:lnSpc>
            </a:pPr>
            <a:r>
              <a:rPr lang="en-US" b="true" sz="38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U. ADITHI RAJ        -   2411CS060111</a:t>
            </a:r>
          </a:p>
          <a:p>
            <a:pPr algn="just">
              <a:lnSpc>
                <a:spcPts val="4209"/>
              </a:lnSpc>
            </a:pPr>
            <a:r>
              <a:rPr lang="en-US" b="true" sz="38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K. MADHU SREE     -   2411CS060119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53275" y="1179427"/>
            <a:ext cx="6581941" cy="92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b="true" sz="6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ABSTRACT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35651"/>
            <a:ext cx="15810714" cy="748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9606" indent="-324803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Library Management System (LMS) is a software application that automates and simplifies library operations.</a:t>
            </a:r>
          </a:p>
          <a:p>
            <a:pPr algn="just" marL="649606" indent="-324803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Replaces manual record-keeping, reducing errors and saving time.</a:t>
            </a:r>
          </a:p>
          <a:p>
            <a:pPr algn="just" marL="649606" indent="-324803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Enables librarians to manage books, members, book issue/return, and overdue fine calculations.</a:t>
            </a:r>
          </a:p>
          <a:p>
            <a:pPr algn="just" marL="649606" indent="-324803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Allows users to search books by Title, Author, Category, or ISBN and check availability instantly.</a:t>
            </a:r>
          </a:p>
          <a:p>
            <a:pPr algn="just" marL="649606" indent="-324803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Stores all library data securely in a centralized database for quick and reliable access.</a:t>
            </a:r>
          </a:p>
          <a:p>
            <a:pPr algn="just" marL="649606" indent="-324803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Generates reports on issued, returned, and overdue books to support efficient library management.</a:t>
            </a:r>
          </a:p>
          <a:p>
            <a:pPr algn="just" marL="649606" indent="-324803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Improves accuracy, productivity, and overall library service with a simple and user-friendly interface.</a:t>
            </a:r>
          </a:p>
          <a:p>
            <a:pPr algn="just">
              <a:lnSpc>
                <a:spcPts val="421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31605" y="1173478"/>
            <a:ext cx="6111420" cy="92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b="true" sz="6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032" y="2586169"/>
            <a:ext cx="16345268" cy="632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47"/>
              </a:lnSpc>
            </a:pPr>
          </a:p>
          <a:p>
            <a:pPr algn="just" marL="630376" indent="-315188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Library Management System (LMS) is a computerized application that automates daily library operations.</a:t>
            </a:r>
          </a:p>
          <a:p>
            <a:pPr algn="just" marL="630376" indent="-315188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Helps manage books, members, book issue/return, and library records efficiently.</a:t>
            </a:r>
          </a:p>
          <a:p>
            <a:pPr algn="just" marL="630376" indent="-315188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Replaces manual record-keeping, reducing errors, paperwork, and time consumption.</a:t>
            </a:r>
          </a:p>
          <a:p>
            <a:pPr algn="just" marL="630376" indent="-315188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Stores all library information in a centralized database for easy access and management.</a:t>
            </a:r>
          </a:p>
          <a:p>
            <a:pPr algn="just" marL="630376" indent="-315188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Supports key functions such as adding, updating, deleting, searching, issuing, and returning books.</a:t>
            </a:r>
          </a:p>
          <a:p>
            <a:pPr algn="just" marL="630376" indent="-315188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Automatically tracks overdue books, calculates fines, and generates reports.</a:t>
            </a:r>
          </a:p>
          <a:p>
            <a:pPr algn="just" marL="630376" indent="-315188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Improves accuracy, productivity, and overall efficiency of library management.</a:t>
            </a:r>
          </a:p>
          <a:p>
            <a:pPr algn="just" marL="630376" indent="-315188" lvl="1">
              <a:lnSpc>
                <a:spcPts val="4087"/>
              </a:lnSpc>
              <a:buFont typeface="Arial"/>
              <a:buChar char="•"/>
            </a:pPr>
            <a:r>
              <a:rPr lang="en-US" sz="2919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Suitable for schools, colleges, universities, and public libraries.</a:t>
            </a:r>
          </a:p>
          <a:p>
            <a:pPr algn="just">
              <a:lnSpc>
                <a:spcPts val="408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86638" y="719675"/>
            <a:ext cx="6313072" cy="176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b="true" sz="6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  <a:p>
            <a:pPr algn="ctr">
              <a:lnSpc>
                <a:spcPts val="660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61582"/>
            <a:ext cx="2488902" cy="308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37"/>
              </a:lnSpc>
              <a:spcBef>
                <a:spcPct val="0"/>
              </a:spcBef>
            </a:pPr>
          </a:p>
          <a:p>
            <a:pPr algn="just">
              <a:lnSpc>
                <a:spcPts val="3337"/>
              </a:lnSpc>
              <a:spcBef>
                <a:spcPct val="0"/>
              </a:spcBef>
            </a:pPr>
          </a:p>
          <a:p>
            <a:pPr algn="just">
              <a:lnSpc>
                <a:spcPts val="3337"/>
              </a:lnSpc>
              <a:spcBef>
                <a:spcPct val="0"/>
              </a:spcBef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  <a:p>
            <a:pPr algn="just">
              <a:lnSpc>
                <a:spcPts val="3337"/>
              </a:lnSpc>
              <a:spcBef>
                <a:spcPct val="0"/>
              </a:spcBef>
            </a:pPr>
          </a:p>
          <a:p>
            <a:pPr algn="just" marL="660976" indent="-330488" lvl="1">
              <a:lnSpc>
                <a:spcPts val="3337"/>
              </a:lnSpc>
              <a:buFont typeface="Arial"/>
              <a:buChar char="•"/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REACT.JS</a:t>
            </a:r>
          </a:p>
          <a:p>
            <a:pPr algn="just">
              <a:lnSpc>
                <a:spcPts val="3664"/>
              </a:lnSpc>
              <a:spcBef>
                <a:spcPct val="0"/>
              </a:spcBef>
            </a:pPr>
          </a:p>
          <a:p>
            <a:pPr algn="just">
              <a:lnSpc>
                <a:spcPts val="388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186449"/>
            <a:ext cx="6476306" cy="297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37"/>
              </a:lnSpc>
              <a:spcBef>
                <a:spcPct val="0"/>
              </a:spcBef>
            </a:pPr>
            <a:r>
              <a:rPr lang="en-US" b="true" sz="3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  <a:p>
            <a:pPr algn="just">
              <a:lnSpc>
                <a:spcPts val="3337"/>
              </a:lnSpc>
              <a:spcBef>
                <a:spcPct val="0"/>
              </a:spcBef>
            </a:pPr>
          </a:p>
          <a:p>
            <a:pPr algn="just" marL="660976" indent="-330488" lvl="1">
              <a:lnSpc>
                <a:spcPts val="3337"/>
              </a:lnSpc>
              <a:buFont typeface="Arial"/>
              <a:buChar char="•"/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JAVA</a:t>
            </a:r>
          </a:p>
          <a:p>
            <a:pPr algn="just" marL="660976" indent="-330488" lvl="1">
              <a:lnSpc>
                <a:spcPts val="3337"/>
              </a:lnSpc>
              <a:buFont typeface="Arial"/>
              <a:buChar char="•"/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SPRING BOOT</a:t>
            </a:r>
          </a:p>
          <a:p>
            <a:pPr algn="just" marL="660976" indent="-330488" lvl="1">
              <a:lnSpc>
                <a:spcPts val="3337"/>
              </a:lnSpc>
              <a:buFont typeface="Arial"/>
              <a:buChar char="•"/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SPRING DATA JPA (HIBERNATE)</a:t>
            </a:r>
          </a:p>
          <a:p>
            <a:pPr algn="just" marL="660976" indent="-330488" lvl="1">
              <a:lnSpc>
                <a:spcPts val="3337"/>
              </a:lnSpc>
              <a:buFont typeface="Arial"/>
              <a:buChar char="•"/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RESTFUL APIS</a:t>
            </a:r>
          </a:p>
          <a:p>
            <a:pPr algn="just" marL="660976" indent="-330488" lvl="1">
              <a:lnSpc>
                <a:spcPts val="3337"/>
              </a:lnSpc>
              <a:buFont typeface="Arial"/>
              <a:buChar char="•"/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MAVEN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3201" y="3153916"/>
            <a:ext cx="2181424" cy="130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  <a:spcBef>
                <a:spcPct val="0"/>
              </a:spcBef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  <a:p>
            <a:pPr algn="ctr">
              <a:lnSpc>
                <a:spcPts val="3337"/>
              </a:lnSpc>
              <a:spcBef>
                <a:spcPct val="0"/>
              </a:spcBef>
            </a:pPr>
          </a:p>
          <a:p>
            <a:pPr algn="just" marL="660976" indent="-330488" lvl="1">
              <a:lnSpc>
                <a:spcPts val="3337"/>
              </a:lnSpc>
              <a:buFont typeface="Arial"/>
              <a:buChar char="•"/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MYSQL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90511" y="5186449"/>
            <a:ext cx="4708227" cy="213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  <a:spcBef>
                <a:spcPct val="0"/>
              </a:spcBef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TOOLS</a:t>
            </a:r>
          </a:p>
          <a:p>
            <a:pPr algn="l">
              <a:lnSpc>
                <a:spcPts val="3337"/>
              </a:lnSpc>
            </a:pPr>
          </a:p>
          <a:p>
            <a:pPr algn="just" marL="660976" indent="-330488" lvl="1">
              <a:lnSpc>
                <a:spcPts val="3337"/>
              </a:lnSpc>
              <a:buFont typeface="Arial"/>
              <a:buChar char="•"/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VISUAL STUDIO CODE</a:t>
            </a:r>
          </a:p>
          <a:p>
            <a:pPr algn="just" marL="660976" indent="-330488" lvl="1">
              <a:lnSpc>
                <a:spcPts val="3337"/>
              </a:lnSpc>
              <a:buFont typeface="Arial"/>
              <a:buChar char="•"/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POSTMAN</a:t>
            </a:r>
          </a:p>
          <a:p>
            <a:pPr algn="just" marL="660976" indent="-330488" lvl="1">
              <a:lnSpc>
                <a:spcPts val="3337"/>
              </a:lnSpc>
              <a:buFont typeface="Arial"/>
              <a:buChar char="•"/>
            </a:pPr>
            <a:r>
              <a:rPr lang="en-US" sz="306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GIT &amp; GITHUB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20702" y="1028700"/>
            <a:ext cx="9961941" cy="92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b="true" sz="6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51873"/>
            <a:ext cx="15201907" cy="650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1418" indent="-360709" lvl="1">
              <a:lnSpc>
                <a:spcPts val="4678"/>
              </a:lnSpc>
              <a:buFont typeface="Arial"/>
              <a:buChar char="•"/>
            </a:pPr>
            <a:r>
              <a:rPr lang="en-US" sz="334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Full-stack web application for managing library operations digitally, replacing manual record-keeping</a:t>
            </a:r>
          </a:p>
          <a:p>
            <a:pPr algn="just" marL="721418" indent="-360709" lvl="1">
              <a:lnSpc>
                <a:spcPts val="4678"/>
              </a:lnSpc>
              <a:buFont typeface="Arial"/>
              <a:buChar char="•"/>
            </a:pPr>
            <a:r>
              <a:rPr lang="en-US" sz="334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Smart Waiting List: Automated FIFO queue system — notifies users when a reserved book becomes available, with a 24-hour claim window before it passes to the next person</a:t>
            </a:r>
          </a:p>
          <a:p>
            <a:pPr algn="just" marL="721418" indent="-360709" lvl="1">
              <a:lnSpc>
                <a:spcPts val="4678"/>
              </a:lnSpc>
              <a:buFont typeface="Arial"/>
              <a:buChar char="•"/>
            </a:pPr>
            <a:r>
              <a:rPr lang="en-US" sz="334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Automated Notifications: Real-time alerts for due dates, fines, and book availability — no manual follow-up needed</a:t>
            </a:r>
          </a:p>
          <a:p>
            <a:pPr algn="just" marL="721418" indent="-360709" lvl="1">
              <a:lnSpc>
                <a:spcPts val="4678"/>
              </a:lnSpc>
              <a:buFont typeface="Arial"/>
              <a:buChar char="•"/>
            </a:pPr>
            <a:r>
              <a:rPr lang="en-US" sz="334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Role-based Access: Separate views for library users (borrow, track, get notified) and admins (manage inventory and members)</a:t>
            </a:r>
          </a:p>
          <a:p>
            <a:pPr algn="just" marL="721418" indent="-360709" lvl="1">
              <a:lnSpc>
                <a:spcPts val="4678"/>
              </a:lnSpc>
              <a:buFont typeface="Arial"/>
              <a:buChar char="•"/>
            </a:pPr>
            <a:r>
              <a:rPr lang="en-US" sz="334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Automatic Fine Calculation: System computes late fees on return, eliminating manual tracking errors.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38529" y="2778832"/>
            <a:ext cx="10210942" cy="6716860"/>
          </a:xfrm>
          <a:custGeom>
            <a:avLst/>
            <a:gdLst/>
            <a:ahLst/>
            <a:cxnLst/>
            <a:rect r="r" b="b" t="t" l="l"/>
            <a:pathLst>
              <a:path h="6716860" w="10210942">
                <a:moveTo>
                  <a:pt x="0" y="0"/>
                </a:moveTo>
                <a:lnTo>
                  <a:pt x="10210942" y="0"/>
                </a:lnTo>
                <a:lnTo>
                  <a:pt x="10210942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3" r="0" b="-67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87326" y="1137088"/>
            <a:ext cx="10859256" cy="92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b="true" sz="6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25592" y="1137088"/>
            <a:ext cx="6111420" cy="92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b="true" sz="6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72938" y="1741114"/>
            <a:ext cx="15342124" cy="751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236"/>
              </a:lnSpc>
            </a:pPr>
          </a:p>
          <a:p>
            <a:pPr algn="just" marL="647232" indent="-323616" lvl="1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Improves the overall library experience for both librarians and members.</a:t>
            </a:r>
          </a:p>
          <a:p>
            <a:pPr algn="just" marL="647232" indent="-323616" lvl="1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Provides quick access to book information and streamlines daily library operations.</a:t>
            </a:r>
          </a:p>
          <a:p>
            <a:pPr algn="just" marL="647232" indent="-323616" lvl="1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Saves time, increases productivity, and enhances service efficiency.</a:t>
            </a:r>
          </a:p>
          <a:p>
            <a:pPr algn="just" marL="647232" indent="-323616" lvl="1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Features a user-friendly interface with secure, role-based access for data protection.</a:t>
            </a:r>
          </a:p>
          <a:p>
            <a:pPr algn="just" marL="647232" indent="-323616" lvl="1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Suitable for schools, colleges, universities, and public libraries.</a:t>
            </a:r>
          </a:p>
          <a:p>
            <a:pPr algn="just" marL="647232" indent="-323616" lvl="1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Can be extended with barcode/QR code scanning, online reservations, email notifications, mobile app integration, and cloud storage.</a:t>
            </a:r>
          </a:p>
          <a:p>
            <a:pPr algn="just" marL="647232" indent="-323616" lvl="1">
              <a:lnSpc>
                <a:spcPts val="4196"/>
              </a:lnSpc>
              <a:buFont typeface="Arial"/>
              <a:buChar char="•"/>
            </a:pPr>
            <a:r>
              <a:rPr lang="en-US" sz="299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Demonstrates how technology modernizes library management by delivering an accurate, efficient, and reliable solution.</a:t>
            </a:r>
          </a:p>
          <a:p>
            <a:pPr algn="just">
              <a:lnSpc>
                <a:spcPts val="4196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DAHPhOOwWhE</dc:identifier>
  <dcterms:modified xsi:type="dcterms:W3CDTF">2011-08-01T06:04:30Z</dcterms:modified>
  <cp:revision>1</cp:revision>
  <dc:title>LIBRARY MANAGEMENT SYSTEM</dc:title>
</cp:coreProperties>
</file>